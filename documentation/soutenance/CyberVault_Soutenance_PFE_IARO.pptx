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54880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4023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MASTER IARO  ·  PFE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4023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8FAFC"/>
                </a:solidFill>
                <a:latin typeface="Calibri"/>
              </a:rPr>
              <a:t>CyberVault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4114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Détection comportementale hybride
et réponse sous contraintes
pour les sessions PAM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4114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Oumaima Alfairam
Encadrant : Prof. Khalid El Yassini
Organisme : Venthone Luxembourg
Université Moulay Ismail — Meknès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5943600"/>
            <a:ext cx="5943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Soutenance · 15–20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164592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05740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22D3EE"/>
                </a:solidFill>
                <a:latin typeface="Calibri"/>
              </a:rPr>
              <a:t>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64592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05740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8B5CF6"/>
                </a:solidFill>
                <a:latin typeface="Calibri"/>
              </a:rPr>
              <a:t>XAI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347472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388620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38BDF8"/>
                </a:solidFill>
                <a:latin typeface="Calibri"/>
              </a:rPr>
              <a:t>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3474720"/>
            <a:ext cx="2560320" cy="14630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388620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34D399"/>
                </a:solidFill>
                <a:latin typeface="Calibri"/>
              </a:rPr>
              <a:t>PAM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Parcours de la soutenance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Structure alignée sur le Guide PFE IARO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2743200" cy="4206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01–04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Contexte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Problématique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Objectifs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37360"/>
            <a:ext cx="2743200" cy="4206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9202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05–08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3774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État de l'art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Limites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Gap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Contribution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37360"/>
            <a:ext cx="2743200" cy="4206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202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09–15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3774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Architecture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UML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Méthodes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Tech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Impl.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Déploiement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Temps réel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737360"/>
            <a:ext cx="2743200" cy="4206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92024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16–23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77440"/>
            <a:ext cx="2377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Expériences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Résultats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Comparaison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Apports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Limites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Perspectives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→  Conclusion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01 ·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Les accès privilégiés : surface 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PAM centralise — mais n'évalue pas le comportement en session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73152" cy="4114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Constat terrain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Comptes admin / root / service = pouvoir maximal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Le bastion authentifie, médiatise et enregistre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L'abus ou l'erreur survient après l'accès accordé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Revue a posteriori trop tardive pour contenir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73152" cy="4114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5CF6"/>
                </a:solidFill>
                <a:latin typeface="Calibri"/>
              </a:rPr>
              <a:t>Cadre du projet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4028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Stage Venthone Luxembourg (28 mars – 8 juillet 2026)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Master IARO — IA &amp; Recherche Opérationnelle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Plateforme : JumpServer (PAM open source)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Prototype : CyberVault (couche analytique)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02 · PROBLÉMATIQUE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Comment réévaluer le risque pendant la session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De l'événement PAM à une décision sûre et inspectable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87171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10312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Latence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651760"/>
            <a:ext cx="4023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Menaces trouvées en revue, pas en direct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3736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FBBF24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103120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Qualité d'alerte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651760"/>
            <a:ext cx="4023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Règles seules : rappel faible · UEBA : faux positifs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8B5CF6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206239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Confiance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754879"/>
            <a:ext cx="4023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Scores ML sans explication → peu utilisés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84047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160519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2D3EE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206239"/>
            <a:ext cx="40233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F8FAFC"/>
                </a:solidFill>
                <a:latin typeface="Calibri"/>
              </a:rPr>
              <a:t>Réponse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754879"/>
            <a:ext cx="4023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Seuils rigides vs coûts / contraintes réels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03 ·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Question principale &amp; sous-questions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Cadre IA · XAI · RO sur PAM open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11155680" cy="11887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MRQ — Comment un cadre intégré IA / XAI / RO peut-il améliorer détection, explication et réponse pour les sessions privilégiées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SRQ1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Détection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Ensemble hybride &gt; moteur isolé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10896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329184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SRQ2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65760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Explicabilité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16052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SHAP/LIME + justifications actionnables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10896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29184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SRQ3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5760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Optimisation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16052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MOO &gt; seuils sous contraintes 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108960"/>
            <a:ext cx="2743200" cy="27432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29184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SRQ4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65760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Intégration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16052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Gain mesurable du pipeline conjoint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04 · ÉTAT DE L'ART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Cinq familles de travaux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Responsabilités distinctes — preuves hétérogènes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828800"/>
            <a:ext cx="2194560" cy="4114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2194560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Calibri"/>
              </a:rPr>
              <a:t>PAM / Bastion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108960"/>
            <a:ext cx="192024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Vault, médiation, audit
CyberArk · JumpServer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1828800"/>
            <a:ext cx="2194560" cy="4114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1828800"/>
            <a:ext cx="219456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39" y="210312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Calibri"/>
              </a:rPr>
              <a:t>UEBA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108960"/>
            <a:ext cx="192024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Baselines, dérive,
faux positifs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828800"/>
            <a:ext cx="2194560" cy="4114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828800"/>
            <a:ext cx="219456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10312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Calibri"/>
              </a:rPr>
              <a:t>ML tabulaire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3108960"/>
            <a:ext cx="192024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IF · RF · ensembles
anomalies locales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19" y="1828800"/>
            <a:ext cx="2194560" cy="4114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19" y="1828800"/>
            <a:ext cx="2194560" cy="91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10312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Calibri"/>
              </a:rPr>
              <a:t>Séquence / Graphe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108960"/>
            <a:ext cx="192024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LSTM · Transformer · GNN
(extensions)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1828800"/>
            <a:ext cx="2194560" cy="4114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1828800"/>
            <a:ext cx="219456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103120"/>
            <a:ext cx="19202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8FAFC"/>
                </a:solidFill>
                <a:latin typeface="Calibri"/>
              </a:rPr>
              <a:t>XAI + SOAR/MOO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3108960"/>
            <a:ext cx="192024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SHAP/LIME · playbooks
arbitrage multi-objectifs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05 ·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Ce que les solutions actuelles ne publient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Capacités déclarées ≠ preuves reproductibles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Commercial PAM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11680"/>
            <a:ext cx="7132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Boîte noire · peu de corpus/méthodes publiés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JumpServer seul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63240"/>
            <a:ext cx="7132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Enregistre &amp; contrôle — pas de fusion multi-moteur ouverte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79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14799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UEBA SIEM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114799"/>
            <a:ext cx="7132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Corrélation différée · pas de réponse session contrainte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9204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3200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22D3EE"/>
                </a:solidFill>
                <a:latin typeface="Calibri"/>
              </a:rPr>
              <a:t>ML / Deep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166360"/>
            <a:ext cx="7132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Souvent hors ligne · pas de chaîne score→explication→action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06 · GAP SCIENTIFIQUE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Ce qui manque dans la littérature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Intégration live + preuves + sûreté de réponse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8B5CF6"/>
                </a:solidFill>
                <a:latin typeface="Calibri"/>
              </a:rPr>
              <a:t>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4846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Pas de pipeline ouvert détection–explication–décision sur bastion 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37360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8B5CF6"/>
                </a:solidFill>
                <a:latin typeface="Calibri"/>
              </a:rPr>
              <a:t>G2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51760"/>
            <a:ext cx="4846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Peu de formalisation inspectable (équations, contraintes, artefacts)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7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39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8B5CF6"/>
                </a:solidFill>
                <a:latin typeface="Calibri"/>
              </a:rPr>
              <a:t>G3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79"/>
            <a:ext cx="4846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Réponse rarement multi-objectifs sous contraintes PAM (root, confiance)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840479"/>
            <a:ext cx="5486400" cy="1920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206239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8B5CF6"/>
                </a:solidFill>
                <a:latin typeface="Calibri"/>
              </a:rPr>
              <a:t>G4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754879"/>
            <a:ext cx="48463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Reproductibilité limitée (benchmark, seeds, audit de preuves)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07 ·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CyberVault — couche analytique inspectable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Complète JumpServer sans le remplacer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87452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65960"/>
            <a:ext cx="6766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5 couches : collecter → profiler → détecter → expliquer → décider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8892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8B5CF6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7180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Formalisation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63240"/>
            <a:ext cx="6766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Scores r_R, r_B, r_M · fusion max · contraintes de réponse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8620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6052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06908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160520"/>
            <a:ext cx="6766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Service Python + intégration JumpServer + UI + dry-run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83479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57799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34D399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66359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8FAFC"/>
                </a:solidFill>
                <a:latin typeface="Calibri"/>
              </a:rPr>
              <a:t>Évaluation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257799"/>
            <a:ext cx="6766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Benchmark synthétique · validations Docker / AWS · audit de preuves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08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Vue globale CyberVault × JumpServer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Séparation plan PAM / plan analytique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011680"/>
            <a:ext cx="1874519" cy="34747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011680"/>
            <a:ext cx="1874519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286000"/>
            <a:ext cx="1691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JumpServer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08960"/>
            <a:ext cx="16916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Auth · ACL · Session
SSH / RDP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38328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2011680"/>
            <a:ext cx="1874519" cy="34747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2011680"/>
            <a:ext cx="1874519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286000"/>
            <a:ext cx="1691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108960"/>
            <a:ext cx="16916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Webhook · Redis
File · Kinesis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338328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59" y="2011680"/>
            <a:ext cx="1874519" cy="34747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59" y="2011680"/>
            <a:ext cx="1874519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399" y="2286000"/>
            <a:ext cx="1691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Analyse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3108960"/>
            <a:ext cx="16916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Règles · UEBA
IF+RF · (LSTM/GNN)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599" y="338328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19" y="2011680"/>
            <a:ext cx="1874519" cy="34747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19" y="2011680"/>
            <a:ext cx="1874519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2286000"/>
            <a:ext cx="1691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XAI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3108960"/>
            <a:ext cx="16916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SHAP · LIME
Raisons texte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59" y="338328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2011680"/>
            <a:ext cx="1874519" cy="34747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2011680"/>
            <a:ext cx="1874519" cy="10972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2286000"/>
            <a:ext cx="1691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Décision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3108960"/>
            <a:ext cx="16916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MOO / seuils
Contraintes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3383280"/>
            <a:ext cx="365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2D3EE"/>
                </a:solidFill>
                <a:latin typeface="Calibr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49840" y="2011680"/>
            <a:ext cx="1874519" cy="34747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49840" y="2011680"/>
            <a:ext cx="1874519" cy="10972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41280" y="2286000"/>
            <a:ext cx="16916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F8FAFC"/>
                </a:solidFill>
                <a:latin typeface="Calibri"/>
              </a:rPr>
              <a:t>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3108960"/>
            <a:ext cx="16916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Alert · Lock
Dry-run défaut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09 · MODÉLISATION UML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Cas d'utilisation principaux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Acteurs : opérateur, JumpServer, CyberVault, analyste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Ingérer l'événement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2D3EE"/>
                </a:solidFill>
                <a:latin typeface="Calibri"/>
              </a:rPr>
              <a:t>Webhook / producteurs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24028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Enrichir le contexte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2D3EE"/>
                </a:solidFill>
                <a:latin typeface="Calibri"/>
              </a:rPr>
              <a:t>Session · profil ·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Évaluer le risque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2608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2D3EE"/>
                </a:solidFill>
                <a:latin typeface="Calibri"/>
              </a:rPr>
              <a:t>Règles · UEBA · 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Expliquer le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06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2D3EE"/>
                </a:solidFill>
                <a:latin typeface="Calibri"/>
              </a:rPr>
              <a:t>SHAP / LIME conditionnels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44348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Sélectionner l'action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1206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2D3EE"/>
                </a:solidFill>
                <a:latin typeface="Calibri"/>
              </a:rPr>
              <a:t>Politique sous contraintes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434840"/>
            <a:ext cx="3154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F8FAFC"/>
                </a:solidFill>
                <a:latin typeface="Calibri"/>
              </a:rPr>
              <a:t>Notifier / journaliser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1206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22D3EE"/>
                </a:solidFill>
                <a:latin typeface="Calibri"/>
              </a:rPr>
              <a:t>Email · dashboard ·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09 · MODÉLISATION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Flux de séquence (simplifié)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De la commande à la décision journalisée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" y="2286000"/>
            <a:ext cx="1554480" cy="25603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4688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01752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Commande
session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286000"/>
            <a:ext cx="1554480" cy="25603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4688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4832" y="301752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Événement
structuré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2286000"/>
            <a:ext cx="1554480" cy="25603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4688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301752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Enrichissement
+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2286000"/>
            <a:ext cx="1554480" cy="25603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4688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8112" y="301752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Scores
r_R r_B r_M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2286000"/>
            <a:ext cx="1554480" cy="25603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4688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301752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Fusion
max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2286000"/>
            <a:ext cx="1554480" cy="25603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4688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51392" y="301752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XAI
si seuil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9880" y="2286000"/>
            <a:ext cx="1554480" cy="25603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2468880"/>
            <a:ext cx="1554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3032" y="3017520"/>
            <a:ext cx="141732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Action
admissible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10 · MÉTHODOLOGIE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Noyau évalué vs 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Preuves proportionnées aux artefacts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73152" cy="4206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Noyau scientifique (évalué)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Règles expertes r_R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UEBA par utilisateur r_B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Isolation Forest + Random Forest → r_M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Fusion conservative r = max(·)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SHAP / LIME sur chemin RF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Politique de réponse sous contraintes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73152" cy="4206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5CF6"/>
                </a:solidFill>
                <a:latin typeface="Calibri"/>
              </a:rPr>
              <a:t>Extensions optionnelles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4028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LSTM / Transformer (séquences)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GNN privilège (relations)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Hors benchmark principal F₁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Présents dans le code + poids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À valider par ablations futures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10 · MÉTHODOLOGIE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Scoring &amp;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Asymétrie du risque privilégié → maximum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1155680" cy="1828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1">
                <a:solidFill>
                  <a:srgbClr val="22D3EE"/>
                </a:solidFill>
                <a:latin typeface="Calibri"/>
              </a:rPr>
              <a:t>r(e)  =  max( r_R(e) ,  r_B(e) ,  r_M(e)  [, r_S , r_G ]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Un signal fort ne doit pas être dilué par une moyenne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233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22D3EE"/>
                </a:solidFill>
                <a:latin typeface="Calibri"/>
              </a:rPr>
              <a:t>τ_a = 0.55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93776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Seuil d'alerte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0233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25196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8B5CF6"/>
                </a:solidFill>
                <a:latin typeface="Calibri"/>
              </a:rPr>
              <a:t>ρ_learn = 0.40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93776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Maj. baseline UEBA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0233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425196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38BDF8"/>
                </a:solidFill>
                <a:latin typeface="Calibri"/>
              </a:rPr>
              <a:t>P = {root,…}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93776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Comptes protégés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4023360"/>
            <a:ext cx="2743200" cy="173736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425196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34D399"/>
                </a:solidFill>
                <a:latin typeface="Calibri"/>
              </a:rPr>
              <a:t>Dry-run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493776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Défaut sûr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11 ·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Stack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Reproductible · conteneurisé · inspectable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Python 3.10+ · scikit-learn
SHAP · LIME · PyTorch*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8B5CF6"/>
                </a:solidFill>
                <a:latin typeface="Calibri"/>
              </a:rPr>
              <a:t>PAM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0604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JumpServer v4
Webhook /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3736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5740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38BDF8"/>
                </a:solidFill>
                <a:latin typeface="Calibri"/>
              </a:rPr>
              <a:t>Data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0604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Redis · HTTP · File
Kinesis (option)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5196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34D399"/>
                </a:solidFill>
                <a:latin typeface="Calibri"/>
              </a:rP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Dashboard CyberVault
Nginx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425196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BBF24"/>
                </a:solidFill>
                <a:latin typeface="Calibri"/>
              </a:rPr>
              <a:t>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8006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Docker Compose
AWS EC2 POC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393192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25196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F87171"/>
                </a:solidFill>
                <a:latin typeface="Calibri"/>
              </a:rPr>
              <a:t>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00600"/>
            <a:ext cx="31546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Benchmark seed 42
700/300 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12 · IMPLÉMENTATION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Console de décisions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Journal : risque, moteurs, action, explications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ybervault-deci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7498079" cy="44929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0" y="1691640"/>
            <a:ext cx="3474720" cy="4297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920240"/>
            <a:ext cx="3017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Points clés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37744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▸  Décisions horodatées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▸  Breakdown r_R / r_B / r_M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▸  Action proposée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▸  Features SHAP (top-k)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▸  Mode simulation possible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12 · IMPLÉMENTATION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Session JumpServer → commande → confinement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Preuve de chaîne opérationnelle en laboratoire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ession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3657600" cy="1937518"/>
          </a:xfrm>
          <a:prstGeom prst="rect">
            <a:avLst/>
          </a:prstGeom>
        </p:spPr>
      </p:pic>
      <p:pic>
        <p:nvPicPr>
          <p:cNvPr id="9" name="Picture 8" descr="session-comm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691640"/>
            <a:ext cx="3657600" cy="1267281"/>
          </a:xfrm>
          <a:prstGeom prst="rect">
            <a:avLst/>
          </a:prstGeom>
        </p:spPr>
      </p:pic>
      <p:pic>
        <p:nvPicPr>
          <p:cNvPr id="10" name="Picture 9" descr="session-after-ki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91640"/>
            <a:ext cx="3657600" cy="139888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0292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Avant — session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50292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Commande à risque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5029200"/>
            <a:ext cx="3657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Après — action de contrôle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BBF24"/>
                </a:solidFill>
                <a:latin typeface="Calibri"/>
              </a:rPr>
              <a:t>Légende : démonstration contrôlée (laboratoire) — pas un déploiement production.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13 · 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Docker Compose — piles locales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JumpServer + CyberVault coexistent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cker-desktop-sta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6858000" cy="328336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691640"/>
            <a:ext cx="4114800" cy="4297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89520" y="1691640"/>
            <a:ext cx="73152" cy="42976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856232"/>
            <a:ext cx="3749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Apports scientifiques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194560"/>
            <a:ext cx="3749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Reproductibilité d'environnement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Séparation des services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Tests d'intégration webhook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POC AWS EC2 (CloudFormation)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Dry-run par défaut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14 · PIPELINE TEMPS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Chemin critique événement → 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Latence prototype : objectif &lt; 500 ms (médiane ~180 ms rapportée)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2011680"/>
            <a:ext cx="2194560" cy="36576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1. Collecte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19202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Commandes / auth /
événements session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97479" y="2011680"/>
            <a:ext cx="2194560" cy="36576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39" y="22860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2. Normalisation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39" y="3200400"/>
            <a:ext cx="19202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Schéma événement
features x ∈ [0,1]^12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011680"/>
            <a:ext cx="2194560" cy="36576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2860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3. Détection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3200400"/>
            <a:ext cx="19202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Règles · UEBA · IF/RF
en parallèle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19" y="2011680"/>
            <a:ext cx="2194560" cy="36576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2860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4. Fusion + XAI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200400"/>
            <a:ext cx="19202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max · SHAP/LIME
si seuil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92640" y="2011680"/>
            <a:ext cx="2194560" cy="36576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2286000"/>
            <a:ext cx="1920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5. Réponse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200400"/>
            <a:ext cx="19202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CBD5E1"/>
                </a:solidFill>
                <a:latin typeface="Calibri"/>
              </a:rPr>
              <a:t>Politique · notif.
journal · dry-run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14 · PIPELINE /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Tableau de bord &amp;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Observabilité pour analyste / opérateur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ybervault-mon-p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7132320" cy="4397648"/>
          </a:xfrm>
          <a:prstGeom prst="rect">
            <a:avLst/>
          </a:prstGeom>
        </p:spPr>
      </p:pic>
      <p:pic>
        <p:nvPicPr>
          <p:cNvPr id="9" name="Picture 8" descr="env-jumpserver-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691640"/>
            <a:ext cx="3840480" cy="11178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623560"/>
            <a:ext cx="7132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Monitoring PAM intégré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5029200"/>
            <a:ext cx="3840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94A3B8"/>
                </a:solidFill>
                <a:latin typeface="Calibri"/>
              </a:rPr>
              <a:t>Intégration API JumpServer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15 · EXPÉRIMENTATIONS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Protocole &amp;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Transparence des preuves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37360"/>
            <a:ext cx="73152" cy="4206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01952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Benchmark principal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1 000 événements synthétiques PAM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Split 700 / 300 · seed 42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Test : 61 positifs · 239 négatifs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Seuil d'évaluation τ = 0.55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Métriques : Acc, Prec, Rec, F₁, FPR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37360"/>
            <a:ext cx="73152" cy="4206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01952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8B5CF6"/>
                </a:solidFill>
                <a:latin typeface="Calibri"/>
              </a:rPr>
              <a:t>Validations complémentaires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4028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Adaptation CERT / LANL (ingestion)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Télémétrie labo JumpServer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Docker + sessions SSH/RDP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POC AWS EC2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CBD5E1"/>
                </a:solidFill>
                <a:latin typeface="Calibri"/>
              </a:rPr>
              <a:t>•  Comparaison politique MOO vs seuils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16 ·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Détection hybride (n=300, τ=0.55)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SRQ1 — couverture prioritaire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22D3EE"/>
                </a:solidFill>
                <a:latin typeface="Calibri"/>
              </a:rPr>
              <a:t>66,2 %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F₁ hybride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830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01168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34D399"/>
                </a:solidFill>
                <a:latin typeface="Calibri"/>
              </a:rPr>
              <a:t>82,0 %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9748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Rappel hybride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78308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011680"/>
            <a:ext cx="2743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FBBF24"/>
                </a:solidFill>
                <a:latin typeface="Calibri"/>
              </a:rPr>
              <a:t>51,2 %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697480"/>
            <a:ext cx="25603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F₁ règles seules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78308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011680"/>
            <a:ext cx="25603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8B5CF6"/>
                </a:solidFill>
                <a:latin typeface="Calibri"/>
              </a:rPr>
              <a:t>+29 %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69748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Gap F₁ relatif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31920"/>
            <a:ext cx="111556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1480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22D3EE"/>
                </a:solidFill>
                <a:latin typeface="Calibri"/>
              </a:rPr>
              <a:t>Lecture scientifique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La fusion max améliore nettement le rappel vs règles (34 % → 82 %) au prix d'un FPR ~16,7 % (comme UEBA).
Choix volontairement orienté couverture ; réglable via τ_a. LSTM/GNN hors noyau archivé.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16 · RÉSULTATS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Comparaison des moteurs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Archive benchmark — mêmes partitions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22D3EE"/>
                </a:solidFill>
                <a:latin typeface="Calibri"/>
              </a:rPr>
              <a:t>Moteur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39" y="1965960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22D3EE"/>
                </a:solidFill>
                <a:latin typeface="Calibri"/>
              </a:rPr>
              <a:t>F₁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965960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22D3EE"/>
                </a:solidFill>
                <a:latin typeface="Calibri"/>
              </a:rPr>
              <a:t>Rappel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59" y="182880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59" y="1965960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22D3EE"/>
                </a:solidFill>
                <a:latin typeface="Calibri"/>
              </a:rPr>
              <a:t>Précision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19" y="1828800"/>
            <a:ext cx="2057400" cy="640080"/>
          </a:xfrm>
          <a:prstGeom prst="roundRect">
            <a:avLst>
              <a:gd name="adj" fmla="val 8000"/>
            </a:avLst>
          </a:prstGeom>
          <a:solidFill>
            <a:srgbClr val="122B4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19" y="1965960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22D3EE"/>
                </a:solidFill>
                <a:latin typeface="Calibri"/>
              </a:rPr>
              <a:t>FPR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56032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2491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Règles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39" y="256032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39" y="272491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51,2 %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256032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72491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34,4 %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59" y="256032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59" y="272491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100 %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18319" y="256032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19" y="272491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0 %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3375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50215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UEBA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39" y="33375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34639" y="350215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52,5 %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33375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350215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59,0 %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59" y="33375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59" y="350215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47,4 %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19" y="33375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19" y="350215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16,7 %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11480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27939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Random Forest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834639" y="411480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39" y="427939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37,3 %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411480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0" y="427939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23,0 %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223759" y="411480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59" y="427939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100 %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19" y="411480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18319" y="427939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F8FAFC"/>
                </a:solidFill>
                <a:latin typeface="Calibri"/>
              </a:rPr>
              <a:t>0 %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489204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A3A4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05663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34D399"/>
                </a:solidFill>
                <a:latin typeface="Calibri"/>
              </a:rPr>
              <a:t>Hybride (max)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34639" y="489204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A3A4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834639" y="505663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34D399"/>
                </a:solidFill>
                <a:latin typeface="Calibri"/>
              </a:rPr>
              <a:t>66,2 %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29200" y="489204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A3A4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505663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34D399"/>
                </a:solidFill>
                <a:latin typeface="Calibri"/>
              </a:rPr>
              <a:t>82,0 %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23759" y="489204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A3A4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23759" y="505663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34D399"/>
                </a:solidFill>
                <a:latin typeface="Calibri"/>
              </a:rPr>
              <a:t>55,6 %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18319" y="489204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A3A4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18319" y="5056632"/>
            <a:ext cx="2057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>
                <a:solidFill>
                  <a:srgbClr val="34D399"/>
                </a:solidFill>
                <a:latin typeface="Calibri"/>
              </a:rPr>
              <a:t>16,7 %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17 · COMPARAISON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Positionnement vs approches existantes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Ouverture · inspectabilité · chaîne complète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2743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2D3EE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91640"/>
            <a:ext cx="2743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2D3EE"/>
                </a:solidFill>
                <a:latin typeface="Calibri"/>
              </a:rPr>
              <a:t>Commercial
PAM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691640"/>
            <a:ext cx="2743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2D3EE"/>
                </a:solidFill>
                <a:latin typeface="Calibri"/>
              </a:rPr>
              <a:t>JumpServer
seul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1691640"/>
            <a:ext cx="2743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22D3EE"/>
                </a:solidFill>
                <a:latin typeface="Calibri"/>
              </a:rPr>
              <a:t>CyberVault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688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Détection hybride ouverte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688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94A3B8"/>
                </a:solidFill>
                <a:latin typeface="Calibri"/>
              </a:rP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688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94A3B8"/>
                </a:solidFill>
                <a:latin typeface="Calibri"/>
              </a:rPr>
              <a:t>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4688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4D399"/>
                </a:solidFill>
                <a:latin typeface="Calibri"/>
              </a:rPr>
              <a:t>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XAI conditionnelle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1546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BBF24"/>
                </a:solidFill>
                <a:latin typeface="Calibri"/>
              </a:rPr>
              <a:t>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94A3B8"/>
                </a:solidFill>
                <a:latin typeface="Calibri"/>
              </a:rPr>
              <a:t>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1546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4D399"/>
                </a:solidFill>
                <a:latin typeface="Calibri"/>
              </a:rPr>
              <a:t>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Réponse sous contraintes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8404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BBF24"/>
                </a:solidFill>
                <a:latin typeface="Calibri"/>
              </a:rPr>
              <a:t>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8404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94A3B8"/>
                </a:solidFill>
                <a:latin typeface="Calibri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8404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4D399"/>
                </a:solidFill>
                <a:latin typeface="Calibri"/>
              </a:rPr>
              <a:t>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262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Artefacts reproductibles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5262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94A3B8"/>
                </a:solidFill>
                <a:latin typeface="Calibri"/>
              </a:rPr>
              <a:t>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5262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FBBF24"/>
                </a:solidFill>
                <a:latin typeface="Calibri"/>
              </a:rPr>
              <a:t>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5262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4D399"/>
                </a:solidFill>
                <a:latin typeface="Calibri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120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Autorité PAM séparée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2120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4D399"/>
                </a:solidFill>
                <a:latin typeface="Calibr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2120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4D399"/>
                </a:solidFill>
                <a:latin typeface="Calibri"/>
              </a:rPr>
              <a:t>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5212080"/>
            <a:ext cx="2743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4D399"/>
                </a:solidFill>
                <a:latin typeface="Calibri"/>
              </a:rP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18 · CONTRIBUTIONS SCIENTIFIQUES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Ce que le jury doit retenir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Science + ingénierie + preuves bornées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8B5CF6"/>
                </a:solidFill>
                <a:latin typeface="Calibri"/>
              </a:rP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57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Architecture IA–XAI–RO attachée à un bastion 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34639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08959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8B5CF6"/>
                </a:solidFill>
                <a:latin typeface="Calibri"/>
              </a:rPr>
              <a:t>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154679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Formalisation inspectable (scores, fusion, contraintes)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8B5CF6"/>
                </a:solidFill>
                <a:latin typeface="Calibri"/>
              </a:rPr>
              <a:t>C3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2519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Prototype opératoire avec audit de ce qui est réellement implémenté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02920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0352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8B5CF6"/>
                </a:solidFill>
                <a:latin typeface="Calibri"/>
              </a:rPr>
              <a:t>C4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3492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8FAFC"/>
                </a:solidFill>
                <a:latin typeface="Calibri"/>
              </a:rPr>
              <a:t>Évaluation reproductible + validations d'intégration (Docker/AWS)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19 ·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Portée scientifique assumée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Crédibilité = transparence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Benchmark quantitatif principal synthétique (n_test=300)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6032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Pas d'étude utilisateur SOC formelle pour l'actionnabilité XAI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84448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Comparaison MOO vs seuils encore partielle (proxy binaire)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0624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07408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LSTM / GNN hors noyau évalué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2920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30368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CBD5E1"/>
                </a:solidFill>
                <a:latin typeface="Calibri"/>
              </a:rPr>
              <a:t>Généralisation opérationnelle non démontrée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20 ·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Trajectoire de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Du banc d'essai au pilote maîtrisé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3611880" cy="10972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22D3EE"/>
                </a:solidFill>
                <a:latin typeface="Calibri"/>
              </a:rPr>
              <a:t>Court terme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15468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Pilote dry-run prolongé
Calibration τ_a · charge d'alertes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011680"/>
            <a:ext cx="3611880" cy="10972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23774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8B5CF6"/>
                </a:solidFill>
                <a:latin typeface="Calibri"/>
              </a:rPr>
              <a:t>Moyen terme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108960"/>
            <a:ext cx="315468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Ablations · partitions groupées
Étude XAI avec analystes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011680"/>
            <a:ext cx="3611880" cy="365760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011680"/>
            <a:ext cx="3611880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37744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38BDF8"/>
                </a:solidFill>
                <a:latin typeface="Calibri"/>
              </a:rPr>
              <a:t>Long terme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108960"/>
            <a:ext cx="315468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Actions différenciées coûtées
Validation multi-sites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21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CyberVault en une phrase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Prototype scientifique inspectable pour la session privilégiée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11155680" cy="201168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8FAFC"/>
                </a:solidFill>
                <a:latin typeface="Calibri"/>
              </a:rPr>
              <a:t>Une couche analytique ouverte qui transforme la télémétrie JumpServer
en risque explicable et en réponse gouvernée — sans confondre
capacité logicielle, performance expérimentale et maturité industrielle.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1480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9768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Hybride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46320"/>
            <a:ext cx="3246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F₁ 66 % · rappel 82 %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11480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429768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Inspectable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846320"/>
            <a:ext cx="3246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Scores + XAI +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411480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297680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22D3EE"/>
                </a:solidFill>
                <a:latin typeface="Calibri"/>
              </a:rPr>
              <a:t>Sûr par défaut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846320"/>
            <a:ext cx="3246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CBD5E1"/>
                </a:solidFill>
                <a:latin typeface="Calibri"/>
              </a:rPr>
              <a:t>Dry-run · contraintes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800" b="1">
                <a:solidFill>
                  <a:srgbClr val="F8FAFC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 b="0">
                <a:solidFill>
                  <a:srgbClr val="22D3EE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Oumaima Alfairam  ·  Master IARO  ·  CyberVault
Repo : github.com/alfaomega77/cybervault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22 · Questions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22D3EE"/>
                </a:solidFill>
                <a:latin typeface="Calibri"/>
              </a:rPr>
              <a:t>ANNEXE JURY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8FAFC"/>
                </a:solidFill>
                <a:latin typeface="Calibri"/>
              </a:rPr>
              <a:t>Réponses rapides SRQ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À mobiliser si questions ciblées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4630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73736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SRQ1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01168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Oui sur benchmark archivé — hybride meilleur F₁/rappel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8892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SRQ2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06324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Capacité XAI technique établie — utilité analyste non mesurée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840479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14799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SRQ3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114799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Architecture OK — avantage MOO surtout sous contraintes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92040"/>
            <a:ext cx="11155680" cy="960120"/>
          </a:xfrm>
          <a:prstGeom prst="roundRect">
            <a:avLst>
              <a:gd name="adj" fmla="val 8000"/>
            </a:avLst>
          </a:prstGeom>
          <a:solidFill>
            <a:srgbClr val="152238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1371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22D3EE"/>
                </a:solidFill>
                <a:latin typeface="Calibri"/>
              </a:rPr>
              <a:t>SRQ4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166360"/>
            <a:ext cx="8869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CBD5E1"/>
                </a:solidFill>
                <a:latin typeface="Calibri"/>
              </a:rPr>
              <a:t>Gap F₁ +29 % vs règles — ablations futures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CyberVault  ·  PFE Master IARO  ·  UMI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